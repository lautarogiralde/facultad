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308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ce8dd257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ce8dd257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ece8dd2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ece8dd2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ece8dd257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ece8dd257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ece8dd25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ece8dd25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ece8dd257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ece8dd257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07c8925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f07c8925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07c89254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07c89254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f07c89254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f07c89254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f07c89254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f07c89254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Matemática aplicada. Práctica de interpolación. Problema 11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Interpolación segmentaria SPLINE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05850"/>
            <a:ext cx="8997425" cy="108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228900"/>
            <a:ext cx="8520600" cy="8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PASO 1: Graficamos la función y proponemos polinomios de 2</a:t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71000"/>
            <a:ext cx="3230950" cy="218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788" y="3458775"/>
            <a:ext cx="3468775" cy="13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3638" y="1141325"/>
            <a:ext cx="4827475" cy="3820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 rot="10800000" flipH="1">
            <a:off x="4596175" y="3588500"/>
            <a:ext cx="1095000" cy="705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5"/>
          <p:cNvCxnSpPr/>
          <p:nvPr/>
        </p:nvCxnSpPr>
        <p:spPr>
          <a:xfrm rot="10800000" flipH="1">
            <a:off x="5763200" y="2709725"/>
            <a:ext cx="1095000" cy="87870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5"/>
          <p:cNvCxnSpPr/>
          <p:nvPr/>
        </p:nvCxnSpPr>
        <p:spPr>
          <a:xfrm rot="10800000" flipH="1">
            <a:off x="6872575" y="1643375"/>
            <a:ext cx="1152600" cy="106620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" name="Google Shape;72;p15"/>
          <p:cNvSpPr txBox="1"/>
          <p:nvPr/>
        </p:nvSpPr>
        <p:spPr>
          <a:xfrm>
            <a:off x="4581775" y="3415525"/>
            <a:ext cx="70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P0(x)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5691175" y="2709575"/>
            <a:ext cx="70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P1(x)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6543425" y="1673913"/>
            <a:ext cx="705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P2(x)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257725"/>
            <a:ext cx="85206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PASO 2: TENEMOS 9 INCÓGNITAS, NECESITAMOS UN SISTEMA DE 9 ECUACIONES.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0375"/>
            <a:ext cx="42100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750" y="2670924"/>
            <a:ext cx="41719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0350" y="1981772"/>
            <a:ext cx="4171950" cy="181350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F9C2E0F-037A-98AF-44D9-B382D1FC79EC}"/>
                  </a:ext>
                </a:extLst>
              </p:cNvPr>
              <p:cNvSpPr txBox="1"/>
              <p:nvPr/>
            </p:nvSpPr>
            <p:spPr>
              <a:xfrm>
                <a:off x="5062194" y="3875837"/>
                <a:ext cx="220053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2,4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,4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F9C2E0F-037A-98AF-44D9-B382D1FC7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194" y="3875837"/>
                <a:ext cx="2200539" cy="215444"/>
              </a:xfrm>
              <a:prstGeom prst="rect">
                <a:avLst/>
              </a:prstGeom>
              <a:blipFill>
                <a:blip r:embed="rId6"/>
                <a:stretch>
                  <a:fillRect l="-1108" r="-1108" b="-1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: curvado 13">
            <a:extLst>
              <a:ext uri="{FF2B5EF4-FFF2-40B4-BE49-F238E27FC236}">
                <a16:creationId xmlns:a16="http://schemas.microsoft.com/office/drawing/2014/main" id="{DCC74740-F3D2-4C1F-9E11-F0928CD1DD25}"/>
              </a:ext>
            </a:extLst>
          </p:cNvPr>
          <p:cNvCxnSpPr>
            <a:cxnSpLocks/>
            <a:endCxn id="2" idx="1"/>
          </p:cNvCxnSpPr>
          <p:nvPr/>
        </p:nvCxnSpPr>
        <p:spPr>
          <a:xfrm rot="5400000">
            <a:off x="4381327" y="3296342"/>
            <a:ext cx="1368084" cy="6350"/>
          </a:xfrm>
          <a:prstGeom prst="curvedConnector4">
            <a:avLst>
              <a:gd name="adj1" fmla="val 1619"/>
              <a:gd name="adj2" fmla="val 4887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35C4DFC-3F2A-6A22-12D3-F731FA26A564}"/>
                  </a:ext>
                </a:extLst>
              </p:cNvPr>
              <p:cNvSpPr txBox="1"/>
              <p:nvPr/>
            </p:nvSpPr>
            <p:spPr>
              <a:xfrm>
                <a:off x="5004307" y="2996002"/>
                <a:ext cx="3985643" cy="19999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s-AR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´</m:t>
                          </m:r>
                        </m:sup>
                      </m:sSubSup>
                      <m:d>
                        <m:dPr>
                          <m:ctrlPr>
                            <a:rPr lang="es-A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s-AR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AR" sz="1200" b="1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AR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es-AR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s-AR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AR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AR" sz="1200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´</m:t>
                          </m:r>
                        </m:sup>
                      </m:sSubSup>
                      <m:d>
                        <m:dPr>
                          <m:ctrlPr>
                            <a:rPr lang="es-AR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s-AR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12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AR" sz="1200" b="1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s-AR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s-AR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s-AR" sz="1200" b="1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s-AR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s-AR" sz="1200" b="1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35C4DFC-3F2A-6A22-12D3-F731FA26A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307" y="2996002"/>
                <a:ext cx="3985643" cy="199991"/>
              </a:xfrm>
              <a:prstGeom prst="rect">
                <a:avLst/>
              </a:prstGeom>
              <a:blipFill>
                <a:blip r:embed="rId7"/>
                <a:stretch>
                  <a:fillRect l="-306" b="-2121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2E09D72-5DAD-51DC-66C3-2F1CA8968E12}"/>
                  </a:ext>
                </a:extLst>
              </p:cNvPr>
              <p:cNvSpPr txBox="1"/>
              <p:nvPr/>
            </p:nvSpPr>
            <p:spPr>
              <a:xfrm>
                <a:off x="5068544" y="4331776"/>
                <a:ext cx="224125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2,8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,8</m:t>
                      </m:r>
                      <m:sSub>
                        <m:sSub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A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2E09D72-5DAD-51DC-66C3-2F1CA8968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544" y="4331776"/>
                <a:ext cx="2241255" cy="215444"/>
              </a:xfrm>
              <a:prstGeom prst="rect">
                <a:avLst/>
              </a:prstGeom>
              <a:blipFill>
                <a:blip r:embed="rId8"/>
                <a:stretch>
                  <a:fillRect l="-272" b="-1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Conector: curvado 20">
            <a:extLst>
              <a:ext uri="{FF2B5EF4-FFF2-40B4-BE49-F238E27FC236}">
                <a16:creationId xmlns:a16="http://schemas.microsoft.com/office/drawing/2014/main" id="{16EDD4C1-7685-7982-F7DC-29D3765F2DEC}"/>
              </a:ext>
            </a:extLst>
          </p:cNvPr>
          <p:cNvCxnSpPr>
            <a:cxnSpLocks/>
          </p:cNvCxnSpPr>
          <p:nvPr/>
        </p:nvCxnSpPr>
        <p:spPr>
          <a:xfrm rot="5400000">
            <a:off x="4374977" y="3766729"/>
            <a:ext cx="1368084" cy="6350"/>
          </a:xfrm>
          <a:prstGeom prst="curvedConnector4">
            <a:avLst>
              <a:gd name="adj1" fmla="val 1619"/>
              <a:gd name="adj2" fmla="val 562989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8FBCA1C-7F8A-3E03-36AB-2E6B1A23A16E}"/>
              </a:ext>
            </a:extLst>
          </p:cNvPr>
          <p:cNvSpPr txBox="1"/>
          <p:nvPr/>
        </p:nvSpPr>
        <p:spPr>
          <a:xfrm>
            <a:off x="752896" y="1740936"/>
            <a:ext cx="284052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AR" dirty="0"/>
              <a:t>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822733D-73E5-B3B0-B340-DC57BBF49427}"/>
              </a:ext>
            </a:extLst>
          </p:cNvPr>
          <p:cNvSpPr txBox="1"/>
          <p:nvPr/>
        </p:nvSpPr>
        <p:spPr>
          <a:xfrm>
            <a:off x="752896" y="2277569"/>
            <a:ext cx="284052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AR" dirty="0"/>
              <a:t>2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FE93CBC-3944-7BD0-291C-9D9FCF7685D5}"/>
              </a:ext>
            </a:extLst>
          </p:cNvPr>
          <p:cNvSpPr txBox="1"/>
          <p:nvPr/>
        </p:nvSpPr>
        <p:spPr>
          <a:xfrm>
            <a:off x="752896" y="3195993"/>
            <a:ext cx="284052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AR" dirty="0"/>
              <a:t>3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75FC500-F012-0FA5-A438-D4B3E3002B64}"/>
              </a:ext>
            </a:extLst>
          </p:cNvPr>
          <p:cNvSpPr txBox="1"/>
          <p:nvPr/>
        </p:nvSpPr>
        <p:spPr>
          <a:xfrm>
            <a:off x="752896" y="3655348"/>
            <a:ext cx="284052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AR" dirty="0"/>
              <a:t>4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6A3C000-C765-BF53-A5E0-674FFBF9D1E2}"/>
              </a:ext>
            </a:extLst>
          </p:cNvPr>
          <p:cNvSpPr txBox="1"/>
          <p:nvPr/>
        </p:nvSpPr>
        <p:spPr>
          <a:xfrm>
            <a:off x="752896" y="4177887"/>
            <a:ext cx="284052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AR" dirty="0"/>
              <a:t>5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7AB1A68-E2AF-01A0-81C8-63DB626DDA22}"/>
              </a:ext>
            </a:extLst>
          </p:cNvPr>
          <p:cNvSpPr txBox="1"/>
          <p:nvPr/>
        </p:nvSpPr>
        <p:spPr>
          <a:xfrm>
            <a:off x="752896" y="4731886"/>
            <a:ext cx="284052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AR" dirty="0"/>
              <a:t>6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84E96ED-DEAD-D440-8BBF-4DEBE6DAB73B}"/>
              </a:ext>
            </a:extLst>
          </p:cNvPr>
          <p:cNvSpPr txBox="1"/>
          <p:nvPr/>
        </p:nvSpPr>
        <p:spPr>
          <a:xfrm>
            <a:off x="7961068" y="3422631"/>
            <a:ext cx="284052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AR" dirty="0"/>
              <a:t>7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E592573-69EE-DFFE-07FB-28AD52B7ECAE}"/>
              </a:ext>
            </a:extLst>
          </p:cNvPr>
          <p:cNvSpPr txBox="1"/>
          <p:nvPr/>
        </p:nvSpPr>
        <p:spPr>
          <a:xfrm>
            <a:off x="7380525" y="3829670"/>
            <a:ext cx="284052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AR" dirty="0"/>
              <a:t>8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5F49160-A639-3DC8-CB96-570241F7DD4A}"/>
              </a:ext>
            </a:extLst>
          </p:cNvPr>
          <p:cNvSpPr txBox="1"/>
          <p:nvPr/>
        </p:nvSpPr>
        <p:spPr>
          <a:xfrm>
            <a:off x="7379179" y="4300057"/>
            <a:ext cx="284052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s-AR" dirty="0"/>
              <a:t>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214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PASO 3: ARMAMOS LA MATRIZ PARA CALCULAR LOS COEFICIENTES DE LOS 3 POLINOMIOS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625" y="1176275"/>
            <a:ext cx="5363375" cy="324125"/>
          </a:xfrm>
          <a:prstGeom prst="rect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800" y="1572425"/>
            <a:ext cx="7840406" cy="34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A4C6C9B-369B-E294-C583-59BFA2819F56}"/>
              </a:ext>
            </a:extLst>
          </p:cNvPr>
          <p:cNvSpPr/>
          <p:nvPr/>
        </p:nvSpPr>
        <p:spPr>
          <a:xfrm>
            <a:off x="4967926" y="1352746"/>
            <a:ext cx="3464350" cy="139516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750" y="1587950"/>
            <a:ext cx="3381375" cy="1457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214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PASO 4: CONOCEMOS LOS 3 POLINOMIOS-INTERPOLAMOS LA FUNCIÓN </a:t>
            </a:r>
            <a:endParaRPr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3075" y="3714187"/>
            <a:ext cx="2619375" cy="1104900"/>
          </a:xfrm>
          <a:prstGeom prst="rect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F0542BB-7E9F-DBC4-2740-4178AC0AA691}"/>
                  </a:ext>
                </a:extLst>
              </p:cNvPr>
              <p:cNvSpPr txBox="1"/>
              <p:nvPr/>
            </p:nvSpPr>
            <p:spPr>
              <a:xfrm>
                <a:off x="5015061" y="1468154"/>
                <a:ext cx="3033587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=−0.735</m:t>
                      </m:r>
                      <m:sSup>
                        <m:sSup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+4.626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−1.1727</m:t>
                      </m:r>
                    </m:oMath>
                  </m:oMathPara>
                </a14:m>
                <a:br>
                  <a:rPr lang="es-AR" b="0" dirty="0"/>
                </a:br>
                <a:endParaRPr lang="es-AR" b="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F0542BB-7E9F-DBC4-2740-4178AC0AA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061" y="1468154"/>
                <a:ext cx="3033587" cy="215508"/>
              </a:xfrm>
              <a:prstGeom prst="rect">
                <a:avLst/>
              </a:prstGeom>
              <a:blipFill>
                <a:blip r:embed="rId5"/>
                <a:stretch>
                  <a:fillRect b="-1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5E5C321-C3C1-25CA-47C2-7071157A9F2D}"/>
                  </a:ext>
                </a:extLst>
              </p:cNvPr>
              <p:cNvSpPr txBox="1"/>
              <p:nvPr/>
            </p:nvSpPr>
            <p:spPr>
              <a:xfrm>
                <a:off x="5054339" y="1877096"/>
                <a:ext cx="2762423" cy="2155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=−4.067</m:t>
                      </m:r>
                      <m:sSup>
                        <m:sSup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+6.9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+5.7429</m:t>
                      </m:r>
                    </m:oMath>
                  </m:oMathPara>
                </a14:m>
                <a:br>
                  <a:rPr lang="es-AR" b="0" dirty="0"/>
                </a:br>
                <a:endParaRPr lang="es-AR" b="0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5E5C321-C3C1-25CA-47C2-7071157A9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339" y="1877096"/>
                <a:ext cx="2762423" cy="215508"/>
              </a:xfrm>
              <a:prstGeom prst="rect">
                <a:avLst/>
              </a:prstGeom>
              <a:blipFill>
                <a:blip r:embed="rId6"/>
                <a:stretch>
                  <a:fillRect l="-883" r="-662" b="-1714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1AE19C0-2366-6026-A462-FCEBAE8EAB78}"/>
                  </a:ext>
                </a:extLst>
              </p:cNvPr>
              <p:cNvSpPr txBox="1"/>
              <p:nvPr/>
            </p:nvSpPr>
            <p:spPr>
              <a:xfrm>
                <a:off x="5054339" y="2301061"/>
                <a:ext cx="169495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s-A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=4.49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AR" b="0" i="1" smtClean="0">
                          <a:latin typeface="Cambria Math" panose="02040503050406030204" pitchFamily="18" charset="0"/>
                        </a:rPr>
                        <m:t>−2.23</m:t>
                      </m:r>
                    </m:oMath>
                  </m:oMathPara>
                </a14:m>
                <a:endParaRPr lang="es-AR" b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1AE19C0-2366-6026-A462-FCEBAE8EA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339" y="2301061"/>
                <a:ext cx="1694951" cy="215444"/>
              </a:xfrm>
              <a:prstGeom prst="rect">
                <a:avLst/>
              </a:prstGeom>
              <a:blipFill>
                <a:blip r:embed="rId7"/>
                <a:stretch>
                  <a:fillRect l="-1799" r="-1439" b="-1388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425" y="988025"/>
            <a:ext cx="4347575" cy="3291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7325" y="988024"/>
            <a:ext cx="4347574" cy="332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/>
          <p:nvPr/>
        </p:nvSpPr>
        <p:spPr>
          <a:xfrm>
            <a:off x="5287750" y="1845100"/>
            <a:ext cx="432300" cy="187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214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GRAFICANDO P0(x) [1:1.2]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050" y="1118826"/>
            <a:ext cx="4361950" cy="339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100" y="1219675"/>
            <a:ext cx="4213974" cy="33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214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GRAFICANDO P1(x) [1.2:1.4]  y P2(x)[1.4:1.6]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214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320"/>
              <a:t>GRAFICANDO P1(x) [1.2:1.4], P2(x)[1.4:1.6] y P3(x)[1.6:2]</a:t>
            </a:r>
            <a:endParaRPr sz="23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00" y="1358700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100" y="1439675"/>
            <a:ext cx="4356066" cy="326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925" y="671513"/>
            <a:ext cx="487680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197</Words>
  <Application>Microsoft Office PowerPoint</Application>
  <PresentationFormat>Presentación en pantalla (16:9)</PresentationFormat>
  <Paragraphs>27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Cambria Math</vt:lpstr>
      <vt:lpstr>Simple Light</vt:lpstr>
      <vt:lpstr>Matemática aplicada. Práctica de interpolación. Problema 11</vt:lpstr>
      <vt:lpstr>Presentación de PowerPoint</vt:lpstr>
      <vt:lpstr>PASO 1: Graficamos la función y proponemos polinomios de 2</vt:lpstr>
      <vt:lpstr>PASO 2: TENEMOS 9 INCÓGNITAS, NECESITAMOS UN SISTEMA DE 9 ECUACIONES.</vt:lpstr>
      <vt:lpstr>PASO 3: ARMAMOS LA MATRIZ PARA CALCULAR LOS COEFICIENTES DE LOS 3 POLINOMIOS</vt:lpstr>
      <vt:lpstr>PASO 4: CONOCEMOS LOS 3 POLINOMIOS-INTERPOLAMOS LA FUNCIÓN </vt:lpstr>
      <vt:lpstr>GRAFICANDO P0(x) [1:1.2]</vt:lpstr>
      <vt:lpstr>GRAFICANDO P1(x) [1.2:1.4]  y P2(x)[1.4:1.6]</vt:lpstr>
      <vt:lpstr>GRAFICANDO P1(x) [1.2:1.4], P2(x)[1.4:1.6] y P3(x)[1.6:2]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FORTUNATO, GERMAN ARIEL</cp:lastModifiedBy>
  <cp:revision>2</cp:revision>
  <dcterms:modified xsi:type="dcterms:W3CDTF">2025-09-17T20:24:44Z</dcterms:modified>
</cp:coreProperties>
</file>